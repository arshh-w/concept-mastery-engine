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6ACFCF8-B63E-4282-BF03-FAE7B35D0A8B}"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1B0BABE3-D2E3-43DF-A7CA-E547DFD81277}" type="slidenum">
              <a:t>&lt;#&gt;</a:t>
            </a:fld>
          </a:p>
        </p:txBody>
      </p:sp>
      <p:sp>
        <p:nvSpPr>
          <p:cNvPr id="4" name="PlaceHolder 3"/>
          <p:cNvSpPr>
            <a:spLocks noGrp="1"/>
          </p:cNvSpPr>
          <p:nvPr>
            <p:ph type="dt" idx="6"/>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432E34B9-935D-45D3-8E4A-37643F03DB4E}" type="slidenum">
              <a:t>&lt;#&gt;</a:t>
            </a:fld>
          </a:p>
        </p:txBody>
      </p:sp>
      <p:sp>
        <p:nvSpPr>
          <p:cNvPr id="4" name="PlaceHolder 3"/>
          <p:cNvSpPr>
            <a:spLocks noGrp="1"/>
          </p:cNvSpPr>
          <p:nvPr>
            <p:ph type="dt" idx="9"/>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ABE899AE-BA84-4608-95E1-9D4FF78A8CBC}" type="slidenum">
              <a:t>&lt;#&gt;</a:t>
            </a:fld>
          </a:p>
        </p:txBody>
      </p:sp>
      <p:sp>
        <p:nvSpPr>
          <p:cNvPr id="6" name="PlaceHolder 5"/>
          <p:cNvSpPr>
            <a:spLocks noGrp="1"/>
          </p:cNvSpPr>
          <p:nvPr>
            <p:ph type="dt" idx="12"/>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D85B5B54-13DD-46EA-9D02-BC0BB925341D}" type="slidenum">
              <a:t>&lt;#&gt;</a:t>
            </a:fld>
          </a:p>
        </p:txBody>
      </p:sp>
      <p:sp>
        <p:nvSpPr>
          <p:cNvPr id="4" name="PlaceHolder 3"/>
          <p:cNvSpPr>
            <a:spLocks noGrp="1"/>
          </p:cNvSpPr>
          <p:nvPr>
            <p:ph type="dt" idx="15"/>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11E2F040-B449-473E-9446-E0C444F3D8C2}" type="slidenum">
              <a:t>&lt;#&gt;</a:t>
            </a:fld>
          </a:p>
        </p:txBody>
      </p:sp>
      <p:sp>
        <p:nvSpPr>
          <p:cNvPr id="7" name="PlaceHolder 6"/>
          <p:cNvSpPr>
            <a:spLocks noGrp="1"/>
          </p:cNvSpPr>
          <p:nvPr>
            <p:ph type="dt" idx="18"/>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ABDD7131-EAFB-4E25-8FB4-3A1F46CFAC8A}" type="slidenum">
              <a:t>&lt;#&gt;</a:t>
            </a:fld>
          </a:p>
        </p:txBody>
      </p:sp>
      <p:sp>
        <p:nvSpPr>
          <p:cNvPr id="4" name="PlaceHolder 3"/>
          <p:cNvSpPr>
            <a:spLocks noGrp="1"/>
          </p:cNvSpPr>
          <p:nvPr>
            <p:ph type="dt" idx="2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8F0D5944-2D05-41C8-A287-6C5F94BD19D2}" type="slidenum">
              <a:t>&lt;#&gt;</a:t>
            </a:fld>
          </a:p>
        </p:txBody>
      </p:sp>
      <p:sp>
        <p:nvSpPr>
          <p:cNvPr id="5" name="PlaceHolder 4"/>
          <p:cNvSpPr>
            <a:spLocks noGrp="1"/>
          </p:cNvSpPr>
          <p:nvPr>
            <p:ph type="dt" idx="24"/>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1B2BB1F0-D101-46C3-80DD-586224810B7B}" type="slidenum">
              <a:t>&lt;#&gt;</a:t>
            </a:fld>
          </a:p>
        </p:txBody>
      </p:sp>
      <p:sp>
        <p:nvSpPr>
          <p:cNvPr id="4" name="PlaceHolder 3"/>
          <p:cNvSpPr>
            <a:spLocks noGrp="1"/>
          </p:cNvSpPr>
          <p:nvPr>
            <p:ph type="dt" idx="27"/>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AE1DCD8F-53F8-4355-8ED1-12A34DF9B50E}" type="slidenum">
              <a:t>&lt;#&gt;</a:t>
            </a:fld>
          </a:p>
        </p:txBody>
      </p:sp>
      <p:sp>
        <p:nvSpPr>
          <p:cNvPr id="4" name="PlaceHolder 3"/>
          <p:cNvSpPr>
            <a:spLocks noGrp="1"/>
          </p:cNvSpPr>
          <p:nvPr>
            <p:ph type="dt" idx="30"/>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DAE1698A-C149-44CD-A30A-7E9008A3B1F4}" type="slidenum">
              <a:t>&lt;#&gt;</a:t>
            </a:fld>
          </a:p>
        </p:txBody>
      </p:sp>
      <p:sp>
        <p:nvSpPr>
          <p:cNvPr id="4" name="PlaceHolder 3"/>
          <p:cNvSpPr>
            <a:spLocks noGrp="1"/>
          </p:cNvSpPr>
          <p:nvPr>
            <p:ph type="dt" idx="33"/>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B9E5121D-A604-4926-8FD8-9A0962ABCB05}"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61052C91-7853-49A7-BBC2-5B746C884FA3}"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D9137127-93D8-4E9A-96D6-378C768679AD}"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14"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15" name="PlaceHolder 3"/>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6" name="PlaceHolder 4"/>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21A81FCE-F5EC-40D1-AE2F-21232F93D6EE}"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17" name="PlaceHolder 5"/>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1"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5A19673A-2F21-4657-B2C8-9911C147A28B}"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22"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24"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25"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26"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7"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464C339F-006F-42D1-9D2E-6A9D1CE206D4}"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28"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5FFF5450-F64E-45B0-9A59-BDBF68F49FFE}"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36"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7"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0A74873A-B3E3-46A6-A6D6-35D7AE5F0507}"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38"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1"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24A699E8-12A0-4E45-A0E1-3CA164DFFD9D}"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42"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FAEA4BC3-0747-4EEF-91E1-22A233B3C1A9}"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45"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7"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82000"/>
                  </a:schemeClr>
                </a:solidFill>
                <a:latin typeface="Aptos"/>
              </a:defRPr>
            </a:lvl1pPr>
          </a:lstStyle>
          <a:p>
            <a:pPr indent="0" algn="r" defTabSz="914400">
              <a:lnSpc>
                <a:spcPct val="100000"/>
              </a:lnSpc>
              <a:buNone/>
              <a:tabLst>
                <a:tab algn="l" pos="0"/>
              </a:tabLst>
            </a:pPr>
            <a:fld id="{691F06CE-DE35-43F1-B66C-C2990C412EC9}" type="slidenum">
              <a:rPr b="0" lang="en-IN" sz="1200" spc="-1" strike="noStrike">
                <a:solidFill>
                  <a:schemeClr val="dk1">
                    <a:tint val="82000"/>
                  </a:schemeClr>
                </a:solidFill>
                <a:latin typeface="Aptos"/>
              </a:rPr>
              <a:t>&lt;number&gt;</a:t>
            </a:fld>
            <a:endParaRPr b="0" lang="en-IN" sz="1200" spc="-1" strike="noStrike">
              <a:solidFill>
                <a:srgbClr val="000000"/>
              </a:solidFill>
              <a:latin typeface="Times New Roman"/>
            </a:endParaRPr>
          </a:p>
        </p:txBody>
      </p:sp>
      <p:sp>
        <p:nvSpPr>
          <p:cNvPr id="48"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mailto:q43676709@gmail.com" TargetMode="External"/><Relationship Id="rId3" Type="http://schemas.openxmlformats.org/officeDocument/2006/relationships/hyperlink" Target="mailto:q43676709@gmail.com" TargetMode="External"/><Relationship Id="rId4" Type="http://schemas.openxmlformats.org/officeDocument/2006/relationships/hyperlink" Target="mailto:akarshb23@gmail.com" TargetMode="External"/><Relationship Id="rId5" Type="http://schemas.openxmlformats.org/officeDocument/2006/relationships/hyperlink" Target="mailto:ashwanib707@gmail.com" TargetMode="External"/><Relationship Id="rId6" Type="http://schemas.openxmlformats.org/officeDocument/2006/relationships/hyperlink" Target="mailto:raiatharva24.in@gmail.com" TargetMode="External"/><Relationship Id="rId7"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Google Shape;84;p13" descr="image.png"/>
          <p:cNvPicPr/>
          <p:nvPr/>
        </p:nvPicPr>
        <p:blipFill>
          <a:blip r:embed="rId1"/>
          <a:stretch/>
        </p:blipFill>
        <p:spPr>
          <a:xfrm>
            <a:off x="0" y="0"/>
            <a:ext cx="12191400" cy="6857280"/>
          </a:xfrm>
          <a:prstGeom prst="rect">
            <a:avLst/>
          </a:prstGeom>
          <a:ln w="0">
            <a:noFill/>
          </a:ln>
        </p:spPr>
      </p:pic>
      <p:sp>
        <p:nvSpPr>
          <p:cNvPr id="50"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51"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lt1"/>
                </a:solidFill>
                <a:latin typeface="Artifakt Element Black"/>
                <a:ea typeface="Artifakt Element Black"/>
              </a:rPr>
              <a:t>SMART ABES HACKATHON 2.0</a:t>
            </a:r>
            <a:endParaRPr b="0" lang="en-IN" sz="3600" spc="-1" strike="noStrike">
              <a:solidFill>
                <a:srgbClr val="000000"/>
              </a:solidFill>
              <a:latin typeface="Arial"/>
            </a:endParaRPr>
          </a:p>
        </p:txBody>
      </p:sp>
      <p:pic>
        <p:nvPicPr>
          <p:cNvPr id="52" name="Picture 5" descr=""/>
          <p:cNvPicPr/>
          <p:nvPr/>
        </p:nvPicPr>
        <p:blipFill>
          <a:blip r:embed="rId2"/>
          <a:stretch/>
        </p:blipFill>
        <p:spPr>
          <a:xfrm>
            <a:off x="10410840" y="586440"/>
            <a:ext cx="1016640" cy="1030680"/>
          </a:xfrm>
          <a:prstGeom prst="rect">
            <a:avLst/>
          </a:prstGeom>
          <a:ln w="0">
            <a:noFill/>
          </a:ln>
        </p:spPr>
      </p:pic>
      <p:sp>
        <p:nvSpPr>
          <p:cNvPr id="53" name="TextBox 6"/>
          <p:cNvSpPr/>
          <p:nvPr/>
        </p:nvSpPr>
        <p:spPr>
          <a:xfrm>
            <a:off x="3369600" y="2721240"/>
            <a:ext cx="5441400" cy="1735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5400" spc="-1" strike="noStrike">
                <a:solidFill>
                  <a:schemeClr val="lt1"/>
                </a:solidFill>
                <a:latin typeface="Artifakt Element Black"/>
                <a:ea typeface="Artifakt Element Black"/>
              </a:rPr>
              <a:t>CODE CONQUER</a:t>
            </a:r>
            <a:endParaRPr b="0" lang="en-IN" sz="5400" spc="-1" strike="noStrike">
              <a:solidFill>
                <a:srgbClr val="000000"/>
              </a:solidFill>
              <a:latin typeface="Arial"/>
            </a:endParaRPr>
          </a:p>
        </p:txBody>
      </p:sp>
      <p:sp>
        <p:nvSpPr>
          <p:cNvPr id="54" name="PlaceHolder 1"/>
          <p:cNvSpPr>
            <a:spLocks noGrp="1"/>
          </p:cNvSpPr>
          <p:nvPr>
            <p:ph type="subTitle"/>
          </p:nvPr>
        </p:nvSpPr>
        <p:spPr>
          <a:xfrm>
            <a:off x="4155840" y="4784760"/>
            <a:ext cx="3868920" cy="1142280"/>
          </a:xfrm>
          <a:prstGeom prst="rect">
            <a:avLst/>
          </a:prstGeom>
          <a:noFill/>
          <a:ln w="0">
            <a:noFill/>
          </a:ln>
        </p:spPr>
        <p:txBody>
          <a:bodyPr lIns="91440" rIns="91440" tIns="45720" bIns="45720" anchor="t">
            <a:noAutofit/>
          </a:bodyPr>
          <a:p>
            <a:pPr algn="ctr" defTabSz="914400">
              <a:lnSpc>
                <a:spcPct val="90000"/>
              </a:lnSpc>
              <a:spcBef>
                <a:spcPts val="1001"/>
              </a:spcBef>
              <a:tabLst>
                <a:tab algn="l" pos="0"/>
              </a:tabLst>
            </a:pPr>
            <a:r>
              <a:rPr b="0" lang="en-US" sz="2500" spc="-1" strike="noStrike">
                <a:solidFill>
                  <a:schemeClr val="lt1">
                    <a:alpha val="80000"/>
                  </a:schemeClr>
                </a:solidFill>
                <a:latin typeface="Arial Unicode MS"/>
                <a:ea typeface="Arial Unicode MS"/>
              </a:rPr>
              <a:t>TEAM ID: </a:t>
            </a:r>
            <a:r>
              <a:rPr b="0" lang="en-IN" sz="2500" spc="-1" strike="noStrike">
                <a:solidFill>
                  <a:schemeClr val="lt1"/>
                </a:solidFill>
                <a:latin typeface="Arial Unicode MS"/>
                <a:ea typeface="Arial Unicode MS"/>
              </a:rPr>
              <a:t>1c05551f</a:t>
            </a:r>
            <a:endParaRPr b="0" lang="en-IN" sz="2500" spc="-1" strike="noStrike">
              <a:solidFill>
                <a:srgbClr val="000000"/>
              </a:solidFill>
              <a:latin typeface="Arial"/>
            </a:endParaRPr>
          </a:p>
          <a:p>
            <a:pPr algn="ctr" defTabSz="914400">
              <a:lnSpc>
                <a:spcPct val="90000"/>
              </a:lnSpc>
              <a:spcBef>
                <a:spcPts val="1001"/>
              </a:spcBef>
              <a:tabLst>
                <a:tab algn="l" pos="0"/>
              </a:tabLst>
            </a:pPr>
            <a:r>
              <a:rPr b="0" lang="en-US" sz="2500" spc="-1" strike="noStrike">
                <a:solidFill>
                  <a:schemeClr val="lt1">
                    <a:alpha val="80000"/>
                  </a:schemeClr>
                </a:solidFill>
                <a:latin typeface="Arial Unicode MS"/>
                <a:ea typeface="Arial Unicode MS"/>
              </a:rPr>
              <a:t>TRACK:  AI </a:t>
            </a:r>
            <a:endParaRPr b="0" lang="en-IN" sz="2500" spc="-1" strike="noStrike">
              <a:solidFill>
                <a:srgbClr val="000000"/>
              </a:solidFill>
              <a:latin typeface="Arial"/>
            </a:endParaRPr>
          </a:p>
          <a:p>
            <a:pPr algn="ctr" defTabSz="914400">
              <a:lnSpc>
                <a:spcPct val="90000"/>
              </a:lnSpc>
              <a:spcBef>
                <a:spcPts val="1001"/>
              </a:spcBef>
              <a:tabLst>
                <a:tab algn="l" pos="0"/>
              </a:tabLst>
            </a:pPr>
            <a:r>
              <a:rPr b="0" lang="en-US" sz="2500" spc="-1" strike="noStrike">
                <a:solidFill>
                  <a:schemeClr val="lt1"/>
                </a:solidFill>
                <a:latin typeface="Arial Unicode MS"/>
                <a:ea typeface="Arial Unicode MS"/>
              </a:rPr>
              <a:t>PS ID: P</a:t>
            </a:r>
            <a:r>
              <a:rPr b="0" lang="en-IN" sz="2500" spc="-1" strike="noStrike">
                <a:solidFill>
                  <a:schemeClr val="lt1"/>
                </a:solidFill>
                <a:latin typeface="Arial Unicode MS"/>
                <a:ea typeface="Arial Unicode MS"/>
              </a:rPr>
              <a:t>S-AI-3</a:t>
            </a:r>
            <a:endParaRPr b="0" lang="en-IN" sz="2500" spc="-1" strike="noStrike">
              <a:solidFill>
                <a:srgbClr val="000000"/>
              </a:solidFill>
              <a:latin typeface="Arial"/>
            </a:endParaRPr>
          </a:p>
        </p:txBody>
      </p:sp>
      <p:sp>
        <p:nvSpPr>
          <p:cNvPr id="55" name="TextBox 9"/>
          <p:cNvSpPr/>
          <p:nvPr/>
        </p:nvSpPr>
        <p:spPr>
          <a:xfrm>
            <a:off x="5920200" y="3459600"/>
            <a:ext cx="420948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800" spc="-1" strike="noStrike">
                <a:solidFill>
                  <a:schemeClr val="lt1"/>
                </a:solidFill>
                <a:latin typeface="Aptos"/>
              </a:rPr>
              <a:t>   </a:t>
            </a:r>
            <a:r>
              <a:rPr b="1" lang="en-IN" sz="1800" spc="-1" strike="noStrike">
                <a:solidFill>
                  <a:schemeClr val="lt1"/>
                </a:solidFill>
                <a:latin typeface="Aptos"/>
              </a:rPr>
              <a:t>"Learn. Code. Conquer." </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Google Shape;84;p13" descr="image.png"/>
          <p:cNvPicPr/>
          <p:nvPr/>
        </p:nvPicPr>
        <p:blipFill>
          <a:blip r:embed="rId1"/>
          <a:stretch/>
        </p:blipFill>
        <p:spPr>
          <a:xfrm>
            <a:off x="0" y="0"/>
            <a:ext cx="12191400" cy="6857280"/>
          </a:xfrm>
          <a:prstGeom prst="rect">
            <a:avLst/>
          </a:prstGeom>
          <a:ln w="0">
            <a:noFill/>
          </a:ln>
        </p:spPr>
      </p:pic>
      <p:sp>
        <p:nvSpPr>
          <p:cNvPr id="57"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58"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lt1"/>
                </a:solidFill>
                <a:latin typeface="Artifakt Element Black"/>
                <a:ea typeface="Artifakt Element Black"/>
              </a:rPr>
              <a:t>THE PROBLEM GAP</a:t>
            </a:r>
            <a:endParaRPr b="0" lang="en-IN" sz="3600" spc="-1" strike="noStrike">
              <a:solidFill>
                <a:srgbClr val="000000"/>
              </a:solidFill>
              <a:latin typeface="Arial"/>
            </a:endParaRPr>
          </a:p>
        </p:txBody>
      </p:sp>
      <p:pic>
        <p:nvPicPr>
          <p:cNvPr id="59" name="Google Shape;85;p13" descr=""/>
          <p:cNvPicPr/>
          <p:nvPr/>
        </p:nvPicPr>
        <p:blipFill>
          <a:blip r:embed="rId2"/>
          <a:stretch/>
        </p:blipFill>
        <p:spPr>
          <a:xfrm>
            <a:off x="763560" y="2090160"/>
            <a:ext cx="3529800" cy="3890520"/>
          </a:xfrm>
          <a:prstGeom prst="rect">
            <a:avLst/>
          </a:prstGeom>
          <a:ln w="0">
            <a:noFill/>
          </a:ln>
        </p:spPr>
      </p:pic>
      <p:pic>
        <p:nvPicPr>
          <p:cNvPr id="60" name="Google Shape;85;p13" descr=""/>
          <p:cNvPicPr/>
          <p:nvPr/>
        </p:nvPicPr>
        <p:blipFill>
          <a:blip r:embed="rId3"/>
          <a:stretch/>
        </p:blipFill>
        <p:spPr>
          <a:xfrm>
            <a:off x="4608000" y="2090160"/>
            <a:ext cx="3529800" cy="3890520"/>
          </a:xfrm>
          <a:prstGeom prst="rect">
            <a:avLst/>
          </a:prstGeom>
          <a:ln w="0">
            <a:noFill/>
          </a:ln>
        </p:spPr>
      </p:pic>
      <p:pic>
        <p:nvPicPr>
          <p:cNvPr id="61" name="Google Shape;85;p13" descr=""/>
          <p:cNvPicPr/>
          <p:nvPr/>
        </p:nvPicPr>
        <p:blipFill>
          <a:blip r:embed="rId4"/>
          <a:stretch/>
        </p:blipFill>
        <p:spPr>
          <a:xfrm>
            <a:off x="8452440" y="2090160"/>
            <a:ext cx="3529800" cy="3890520"/>
          </a:xfrm>
          <a:prstGeom prst="rect">
            <a:avLst/>
          </a:prstGeom>
          <a:ln w="0">
            <a:noFill/>
          </a:ln>
        </p:spPr>
      </p:pic>
      <p:sp>
        <p:nvSpPr>
          <p:cNvPr id="62" name="TextBox 13"/>
          <p:cNvSpPr/>
          <p:nvPr/>
        </p:nvSpPr>
        <p:spPr>
          <a:xfrm>
            <a:off x="991440" y="2493000"/>
            <a:ext cx="60937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pc="-1" strike="noStrike">
                <a:solidFill>
                  <a:srgbClr val="38bdf8"/>
                </a:solidFill>
                <a:latin typeface="Poppins"/>
              </a:rPr>
              <a:t>Current Limitation :</a:t>
            </a:r>
            <a:endParaRPr b="0" lang="en-IN" sz="1800" spc="-1" strike="noStrike">
              <a:solidFill>
                <a:srgbClr val="000000"/>
              </a:solidFill>
              <a:latin typeface="Arial"/>
            </a:endParaRPr>
          </a:p>
        </p:txBody>
      </p:sp>
      <p:sp>
        <p:nvSpPr>
          <p:cNvPr id="63" name="TextBox 15"/>
          <p:cNvSpPr/>
          <p:nvPr/>
        </p:nvSpPr>
        <p:spPr>
          <a:xfrm>
            <a:off x="4838400" y="2515320"/>
            <a:ext cx="60937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pc="-1" strike="noStrike">
                <a:solidFill>
                  <a:srgbClr val="38bdf8"/>
                </a:solidFill>
                <a:latin typeface="Poppins"/>
                <a:ea typeface="Poppins"/>
              </a:rPr>
              <a:t>Technical Bottleneck : </a:t>
            </a:r>
            <a:endParaRPr b="0" lang="en-IN" sz="1800" spc="-1" strike="noStrike">
              <a:solidFill>
                <a:srgbClr val="000000"/>
              </a:solidFill>
              <a:latin typeface="Arial"/>
            </a:endParaRPr>
          </a:p>
        </p:txBody>
      </p:sp>
      <p:sp>
        <p:nvSpPr>
          <p:cNvPr id="64" name="TextBox 17"/>
          <p:cNvSpPr/>
          <p:nvPr/>
        </p:nvSpPr>
        <p:spPr>
          <a:xfrm>
            <a:off x="8651520" y="2515320"/>
            <a:ext cx="60937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pc="-1" strike="noStrike">
                <a:solidFill>
                  <a:srgbClr val="38bdf8"/>
                </a:solidFill>
                <a:latin typeface="Poppins"/>
                <a:ea typeface="Poppins"/>
              </a:rPr>
              <a:t>Our Insight :</a:t>
            </a:r>
            <a:endParaRPr b="0" lang="en-IN" sz="1800" spc="-1" strike="noStrike">
              <a:solidFill>
                <a:srgbClr val="000000"/>
              </a:solidFill>
              <a:latin typeface="Arial"/>
            </a:endParaRPr>
          </a:p>
        </p:txBody>
      </p:sp>
      <p:sp>
        <p:nvSpPr>
          <p:cNvPr id="65" name="Rectangle 3"/>
          <p:cNvSpPr/>
          <p:nvPr/>
        </p:nvSpPr>
        <p:spPr>
          <a:xfrm>
            <a:off x="991440" y="2990880"/>
            <a:ext cx="3074040" cy="2282760"/>
          </a:xfrm>
          <a:prstGeom prst="rect">
            <a:avLst/>
          </a:prstGeom>
          <a:noFill/>
          <a:ln w="0">
            <a:noFill/>
          </a:ln>
        </p:spPr>
        <p:style>
          <a:lnRef idx="0"/>
          <a:fillRef idx="0"/>
          <a:effectRef idx="0"/>
          <a:fontRef idx="minor"/>
        </p:style>
        <p:txBody>
          <a:bodyPr numCol="1" spcCol="0" lIns="90000" rIns="90000" tIns="45000" bIns="45000" anchor="ctr">
            <a:spAutoFit/>
          </a:bodyPr>
          <a:p>
            <a:pPr marL="285840" indent="-285840" defTabSz="914400">
              <a:lnSpc>
                <a:spcPct val="100000"/>
              </a:lnSpc>
              <a:buClr>
                <a:srgbClr val="ffffff"/>
              </a:buClr>
              <a:buFont typeface="Arial"/>
              <a:buChar char="•"/>
            </a:pPr>
            <a:r>
              <a:rPr b="0" lang="en-IN" sz="1600" spc="-1" strike="noStrike">
                <a:solidFill>
                  <a:schemeClr val="lt1"/>
                </a:solidFill>
                <a:latin typeface="Aptos"/>
              </a:rPr>
              <a:t>Theory-heavy, application-light learning.</a:t>
            </a:r>
            <a:br>
              <a:rPr sz="1600"/>
            </a:br>
            <a:r>
              <a:rPr b="0" lang="en-US" sz="1600" spc="-1" strike="noStrike">
                <a:solidFill>
                  <a:schemeClr val="lt1"/>
                </a:solidFill>
                <a:latin typeface="Aptos"/>
              </a:rPr>
              <a:t>Minimal interactive practice</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US" sz="1600" spc="-1" strike="noStrike">
                <a:solidFill>
                  <a:schemeClr val="lt1"/>
                </a:solidFill>
                <a:latin typeface="Aptos"/>
              </a:rPr>
              <a:t>Leads to shallow understanding and poor retention.</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US" sz="1600" spc="-1" strike="noStrike">
                <a:solidFill>
                  <a:schemeClr val="lt1"/>
                </a:solidFill>
                <a:latin typeface="Aptos"/>
              </a:rPr>
              <a:t>Hard to visualize system-level concepts.</a:t>
            </a:r>
            <a:endParaRPr b="0" lang="en-IN" sz="1600" spc="-1" strike="noStrike">
              <a:solidFill>
                <a:srgbClr val="000000"/>
              </a:solidFill>
              <a:latin typeface="Arial"/>
            </a:endParaRPr>
          </a:p>
        </p:txBody>
      </p:sp>
      <p:sp>
        <p:nvSpPr>
          <p:cNvPr id="66" name="Rectangle 3"/>
          <p:cNvSpPr/>
          <p:nvPr/>
        </p:nvSpPr>
        <p:spPr>
          <a:xfrm>
            <a:off x="8680320" y="2954520"/>
            <a:ext cx="3074040" cy="2282760"/>
          </a:xfrm>
          <a:prstGeom prst="rect">
            <a:avLst/>
          </a:prstGeom>
          <a:noFill/>
          <a:ln w="0">
            <a:noFill/>
          </a:ln>
        </p:spPr>
        <p:style>
          <a:lnRef idx="0"/>
          <a:fillRef idx="0"/>
          <a:effectRef idx="0"/>
          <a:fontRef idx="minor"/>
        </p:style>
        <p:txBody>
          <a:bodyPr numCol="1" spcCol="0" lIns="90000" rIns="90000" tIns="45000" bIns="45000" anchor="ctr">
            <a:spAutoFit/>
          </a:bodyPr>
          <a:p>
            <a:pPr marL="285840" indent="-285840" defTabSz="914400">
              <a:lnSpc>
                <a:spcPct val="100000"/>
              </a:lnSpc>
              <a:buClr>
                <a:srgbClr val="ffffff"/>
              </a:buClr>
              <a:buFont typeface="Arial"/>
              <a:buChar char="•"/>
            </a:pPr>
            <a:r>
              <a:rPr b="0" lang="en-US" sz="1600" spc="-1" strike="noStrike">
                <a:solidFill>
                  <a:schemeClr val="lt1"/>
                </a:solidFill>
                <a:latin typeface="Aptos"/>
              </a:rPr>
              <a:t>Convert system-level abstractions into interactive simulations.</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US" sz="1600" spc="-1" strike="noStrike">
                <a:solidFill>
                  <a:schemeClr val="lt1"/>
                </a:solidFill>
                <a:latin typeface="Aptos"/>
              </a:rPr>
              <a:t>Enable safe experimentation and iterative learning.</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US" sz="1600" spc="-1" strike="noStrike">
                <a:solidFill>
                  <a:schemeClr val="lt1"/>
                </a:solidFill>
                <a:latin typeface="Aptos"/>
              </a:rPr>
              <a:t>Bridge systems engineering with experiential learning.</a:t>
            </a:r>
            <a:endParaRPr b="0" lang="en-IN" sz="1600" spc="-1" strike="noStrike">
              <a:solidFill>
                <a:srgbClr val="000000"/>
              </a:solidFill>
              <a:latin typeface="Arial"/>
            </a:endParaRPr>
          </a:p>
        </p:txBody>
      </p:sp>
      <p:sp>
        <p:nvSpPr>
          <p:cNvPr id="67" name="Rectangle 3"/>
          <p:cNvSpPr/>
          <p:nvPr/>
        </p:nvSpPr>
        <p:spPr>
          <a:xfrm>
            <a:off x="4838400" y="3076200"/>
            <a:ext cx="3074040" cy="2039040"/>
          </a:xfrm>
          <a:prstGeom prst="rect">
            <a:avLst/>
          </a:prstGeom>
          <a:noFill/>
          <a:ln w="0">
            <a:noFill/>
          </a:ln>
        </p:spPr>
        <p:style>
          <a:lnRef idx="0"/>
          <a:fillRef idx="0"/>
          <a:effectRef idx="0"/>
          <a:fontRef idx="minor"/>
        </p:style>
        <p:txBody>
          <a:bodyPr numCol="1" spcCol="0" lIns="90000" rIns="90000" tIns="45000" bIns="45000" anchor="ctr">
            <a:spAutoFit/>
          </a:bodyPr>
          <a:p>
            <a:pPr marL="285840" indent="-285840" defTabSz="914400">
              <a:lnSpc>
                <a:spcPct val="100000"/>
              </a:lnSpc>
              <a:buClr>
                <a:srgbClr val="ffffff"/>
              </a:buClr>
              <a:buFont typeface="Arial"/>
              <a:buChar char="•"/>
            </a:pPr>
            <a:r>
              <a:rPr b="0" lang="en-US" sz="1600" spc="-1" strike="noStrike">
                <a:solidFill>
                  <a:schemeClr val="lt1"/>
                </a:solidFill>
                <a:latin typeface="Aptos"/>
              </a:rPr>
              <a:t>Real-time simulation complexity.</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US" sz="1600" spc="-1" strike="noStrike">
                <a:solidFill>
                  <a:schemeClr val="lt1"/>
                </a:solidFill>
                <a:latin typeface="Aptos"/>
              </a:rPr>
              <a:t>Maintaining accuracy in system modeling.</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US" sz="1600" spc="-1" strike="noStrike">
                <a:solidFill>
                  <a:schemeClr val="lt1"/>
                </a:solidFill>
                <a:latin typeface="Aptos"/>
              </a:rPr>
              <a:t>Low-latency interactive experience.</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US" sz="1600" spc="-1" strike="noStrike">
                <a:solidFill>
                  <a:schemeClr val="lt1"/>
                </a:solidFill>
                <a:latin typeface="Aptos"/>
              </a:rPr>
              <a:t>Scalability vs infrastructure cost.</a:t>
            </a:r>
            <a:endParaRPr b="0" lang="en-IN" sz="1600" spc="-1" strike="noStrike">
              <a:solidFill>
                <a:srgbClr val="000000"/>
              </a:solidFill>
              <a:latin typeface="Arial"/>
            </a:endParaRPr>
          </a:p>
        </p:txBody>
      </p:sp>
      <p:sp>
        <p:nvSpPr>
          <p:cNvPr id="68" name="TextBox 29"/>
          <p:cNvSpPr/>
          <p:nvPr/>
        </p:nvSpPr>
        <p:spPr>
          <a:xfrm>
            <a:off x="2944080" y="6121080"/>
            <a:ext cx="7374240" cy="3333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1" i="1" lang="en-US" sz="1600" spc="-1" strike="noStrike">
                <a:solidFill>
                  <a:schemeClr val="lt1">
                    <a:lumMod val="85000"/>
                  </a:schemeClr>
                </a:solidFill>
                <a:latin typeface="Aptos"/>
              </a:rPr>
              <a:t>"We don’t just teach OS &amp; DBMS — we let students experience them."</a:t>
            </a:r>
            <a:endParaRPr b="0" lang="en-IN"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 name="Google Shape;84;p13" descr="image.png"/>
          <p:cNvPicPr/>
          <p:nvPr/>
        </p:nvPicPr>
        <p:blipFill>
          <a:blip r:embed="rId1"/>
          <a:stretch/>
        </p:blipFill>
        <p:spPr>
          <a:xfrm>
            <a:off x="0" y="0"/>
            <a:ext cx="12191400" cy="6857280"/>
          </a:xfrm>
          <a:prstGeom prst="rect">
            <a:avLst/>
          </a:prstGeom>
          <a:ln w="0">
            <a:noFill/>
          </a:ln>
        </p:spPr>
      </p:pic>
      <p:sp>
        <p:nvSpPr>
          <p:cNvPr id="70"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71"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lt1"/>
                </a:solidFill>
                <a:latin typeface="Artifakt Element Black"/>
                <a:ea typeface="Artifakt Element Black"/>
              </a:rPr>
              <a:t>NOVELTY &amp; INNOVATION</a:t>
            </a:r>
            <a:endParaRPr b="0" lang="en-IN" sz="3600" spc="-1" strike="noStrike">
              <a:solidFill>
                <a:srgbClr val="000000"/>
              </a:solidFill>
              <a:latin typeface="Arial"/>
            </a:endParaRPr>
          </a:p>
        </p:txBody>
      </p:sp>
      <p:sp>
        <p:nvSpPr>
          <p:cNvPr id="72" name="TextBox 2"/>
          <p:cNvSpPr/>
          <p:nvPr/>
        </p:nvSpPr>
        <p:spPr>
          <a:xfrm>
            <a:off x="885960" y="2204280"/>
            <a:ext cx="10419480" cy="26499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2400" spc="-1" strike="noStrike">
                <a:solidFill>
                  <a:schemeClr val="lt1"/>
                </a:solidFill>
                <a:latin typeface="Arial"/>
              </a:rPr>
              <a:t>Instead of relying on the summation of scores, which often fails to account for lucky guesses or unintentional slips. Our solution tries to implement a Hidden Markov Model (HMM) via Bayesian Knowledge Tracing (BKT) to map the user's mastery as a hidden state inside our game engine. By treating the learner's intuition as a measured probabilistic variable, the engine transitions from a static quiz to a dynamic control system, where the game-play is a simulation of low-level system constraints.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Google Shape;84;p13" descr="image.png"/>
          <p:cNvPicPr/>
          <p:nvPr/>
        </p:nvPicPr>
        <p:blipFill>
          <a:blip r:embed="rId1"/>
          <a:stretch/>
        </p:blipFill>
        <p:spPr>
          <a:xfrm>
            <a:off x="0" y="0"/>
            <a:ext cx="12191400" cy="6857280"/>
          </a:xfrm>
          <a:prstGeom prst="rect">
            <a:avLst/>
          </a:prstGeom>
          <a:ln w="0">
            <a:noFill/>
          </a:ln>
        </p:spPr>
      </p:pic>
      <p:sp>
        <p:nvSpPr>
          <p:cNvPr id="74"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75"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600" spc="-1" strike="noStrike">
                <a:solidFill>
                  <a:schemeClr val="lt1"/>
                </a:solidFill>
                <a:latin typeface="Artifakt Element Black"/>
                <a:ea typeface="Artifakt Element Black"/>
              </a:rPr>
              <a:t>OPTIMIZATION &amp; DEPTH</a:t>
            </a:r>
            <a:endParaRPr b="0" lang="en-IN" sz="3600" spc="-1" strike="noStrike">
              <a:solidFill>
                <a:srgbClr val="000000"/>
              </a:solidFill>
              <a:latin typeface="Arial"/>
            </a:endParaRPr>
          </a:p>
        </p:txBody>
      </p:sp>
      <p:sp>
        <p:nvSpPr>
          <p:cNvPr id="76" name="TextBox 2"/>
          <p:cNvSpPr/>
          <p:nvPr/>
        </p:nvSpPr>
        <p:spPr>
          <a:xfrm>
            <a:off x="924480" y="2306880"/>
            <a:ext cx="10178280" cy="33814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2400" spc="-1" strike="noStrike">
                <a:solidFill>
                  <a:schemeClr val="lt1"/>
                </a:solidFill>
                <a:latin typeface="Aptos"/>
              </a:rPr>
              <a:t>To optimize the learning experience and trajectory, we implement DAG-based Topological Sorting for prerequisite management, ensuring O(V+E) complexity for path generation, keeping the game engine optimal and smooth. To maintain the Flow State, we will utilise a PID-inspired Control Loop for difficulty scaling. Instead of arbitrary difficulty tiers, the algorithm calculates the delta between the Estimated Time to Completion and actual performance to finetune our system’s entropy (i,e increasing cache miss penalties or context-switching frequency in real-time)</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Google Shape;84;p13" descr="image.png"/>
          <p:cNvPicPr/>
          <p:nvPr/>
        </p:nvPicPr>
        <p:blipFill>
          <a:blip r:embed="rId1"/>
          <a:stretch/>
        </p:blipFill>
        <p:spPr>
          <a:xfrm>
            <a:off x="0" y="0"/>
            <a:ext cx="12191400" cy="6857280"/>
          </a:xfrm>
          <a:prstGeom prst="rect">
            <a:avLst/>
          </a:prstGeom>
          <a:ln w="0">
            <a:noFill/>
          </a:ln>
        </p:spPr>
      </p:pic>
      <p:sp>
        <p:nvSpPr>
          <p:cNvPr id="78"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79"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600" spc="-1" strike="noStrike">
                <a:solidFill>
                  <a:schemeClr val="lt1"/>
                </a:solidFill>
                <a:latin typeface="Artifakt Element Black"/>
                <a:ea typeface="Artifakt Element Black"/>
              </a:rPr>
              <a:t>METHODOLOGY</a:t>
            </a:r>
            <a:endParaRPr b="0" lang="en-IN" sz="3600" spc="-1" strike="noStrike">
              <a:solidFill>
                <a:srgbClr val="000000"/>
              </a:solidFill>
              <a:latin typeface="Arial"/>
            </a:endParaRPr>
          </a:p>
        </p:txBody>
      </p:sp>
      <p:sp>
        <p:nvSpPr>
          <p:cNvPr id="80" name="TextBox 2"/>
          <p:cNvSpPr/>
          <p:nvPr/>
        </p:nvSpPr>
        <p:spPr>
          <a:xfrm>
            <a:off x="924480" y="2067840"/>
            <a:ext cx="10432800" cy="11869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2400" spc="-1" strike="noStrike">
                <a:solidFill>
                  <a:schemeClr val="lt1"/>
                </a:solidFill>
                <a:latin typeface="Aptos"/>
              </a:rPr>
              <a:t>We will utilize a Decoupled Event-Driven Architecture to ensure the heavy simulation logic does not block the UI thread processes to ensure a seamless experience for the User. </a:t>
            </a:r>
            <a:endParaRPr b="0" lang="en-IN" sz="2400" spc="-1" strike="noStrike">
              <a:solidFill>
                <a:srgbClr val="000000"/>
              </a:solidFill>
              <a:latin typeface="Arial"/>
            </a:endParaRPr>
          </a:p>
        </p:txBody>
      </p:sp>
      <p:sp>
        <p:nvSpPr>
          <p:cNvPr id="81" name="TextBox 1"/>
          <p:cNvSpPr/>
          <p:nvPr/>
        </p:nvSpPr>
        <p:spPr>
          <a:xfrm>
            <a:off x="5637240" y="2974320"/>
            <a:ext cx="913680" cy="913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IN" sz="1800" spc="-1" strike="noStrike">
              <a:solidFill>
                <a:schemeClr val="dk1"/>
              </a:solidFill>
              <a:latin typeface="Aptos"/>
            </a:endParaRPr>
          </a:p>
        </p:txBody>
      </p:sp>
      <p:sp>
        <p:nvSpPr>
          <p:cNvPr id="82" name="TextBox 7"/>
          <p:cNvSpPr/>
          <p:nvPr/>
        </p:nvSpPr>
        <p:spPr>
          <a:xfrm>
            <a:off x="1931040" y="3269520"/>
            <a:ext cx="9426240" cy="2770920"/>
          </a:xfrm>
          <a:prstGeom prst="rect">
            <a:avLst/>
          </a:prstGeom>
          <a:noFill/>
          <a:ln w="0">
            <a:noFill/>
          </a:ln>
        </p:spPr>
        <p:style>
          <a:lnRef idx="0"/>
          <a:fillRef idx="0"/>
          <a:effectRef idx="0"/>
          <a:fontRef idx="minor"/>
        </p:style>
        <p:txBody>
          <a:bodyPr lIns="90000" rIns="90000" tIns="45000" bIns="45000" anchor="t">
            <a:spAutoFit/>
          </a:bodyPr>
          <a:p>
            <a:pPr lvl="1" marL="914400" indent="-457200" algn="just" defTabSz="914400">
              <a:lnSpc>
                <a:spcPct val="100000"/>
              </a:lnSpc>
              <a:buClr>
                <a:srgbClr val="ffffff"/>
              </a:buClr>
              <a:buFont typeface="Arial"/>
              <a:buChar char="•"/>
            </a:pPr>
            <a:r>
              <a:rPr b="0" lang="en-US" sz="2200" spc="-1" strike="noStrike">
                <a:solidFill>
                  <a:schemeClr val="lt1"/>
                </a:solidFill>
                <a:latin typeface="Aptos"/>
              </a:rPr>
              <a:t>The Simulation Core (C++): The  high-performance state transition machine for the OS and DBMS logic. </a:t>
            </a:r>
            <a:endParaRPr b="0" lang="en-IN" sz="2200" spc="-1" strike="noStrike">
              <a:solidFill>
                <a:srgbClr val="000000"/>
              </a:solidFill>
              <a:latin typeface="Arial"/>
            </a:endParaRPr>
          </a:p>
          <a:p>
            <a:pPr lvl="1" marL="914400" indent="-457200" algn="just" defTabSz="914400">
              <a:lnSpc>
                <a:spcPct val="100000"/>
              </a:lnSpc>
              <a:buClr>
                <a:srgbClr val="ffffff"/>
              </a:buClr>
              <a:buFont typeface="Arial"/>
              <a:buChar char="•"/>
            </a:pPr>
            <a:r>
              <a:rPr b="0" lang="en-US" sz="2200" spc="-1" strike="noStrike">
                <a:solidFill>
                  <a:schemeClr val="lt1"/>
                </a:solidFill>
                <a:latin typeface="Aptos"/>
              </a:rPr>
              <a:t>The Logic Layer (Python): Here, we’ll process the Abstract Syntax Tree (AST) from user SQL inputs to predict performance before execution. </a:t>
            </a:r>
            <a:endParaRPr b="0" lang="en-IN" sz="2200" spc="-1" strike="noStrike">
              <a:solidFill>
                <a:srgbClr val="000000"/>
              </a:solidFill>
              <a:latin typeface="Arial"/>
            </a:endParaRPr>
          </a:p>
          <a:p>
            <a:pPr lvl="1" marL="914400" indent="-457200" algn="just" defTabSz="914400">
              <a:lnSpc>
                <a:spcPct val="100000"/>
              </a:lnSpc>
              <a:buClr>
                <a:srgbClr val="ffffff"/>
              </a:buClr>
              <a:buFont typeface="Arial"/>
              <a:buChar char="•"/>
            </a:pPr>
            <a:r>
              <a:rPr b="0" lang="en-US" sz="2200" spc="-1" strike="noStrike">
                <a:solidFill>
                  <a:schemeClr val="lt1"/>
                </a:solidFill>
                <a:latin typeface="Aptos"/>
              </a:rPr>
              <a:t>The State Store: A Markov Chain will track the learner's journey,in which each node will represent a specific competency level (e.g., Concepts like Paging, B-Tree Balancing)</a:t>
            </a:r>
            <a:endParaRPr b="0" lang="en-IN"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Google Shape;84;p13" descr="image.png"/>
          <p:cNvPicPr/>
          <p:nvPr/>
        </p:nvPicPr>
        <p:blipFill>
          <a:blip r:embed="rId1"/>
          <a:stretch/>
        </p:blipFill>
        <p:spPr>
          <a:xfrm>
            <a:off x="0" y="0"/>
            <a:ext cx="12191400" cy="6857280"/>
          </a:xfrm>
          <a:prstGeom prst="rect">
            <a:avLst/>
          </a:prstGeom>
          <a:ln w="0">
            <a:noFill/>
          </a:ln>
        </p:spPr>
      </p:pic>
      <p:sp>
        <p:nvSpPr>
          <p:cNvPr id="84"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85"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3600" spc="-1" strike="noStrike">
                <a:solidFill>
                  <a:schemeClr val="lt1"/>
                </a:solidFill>
                <a:latin typeface="Artifakt Element Black"/>
                <a:ea typeface="Artifakt Element Black"/>
              </a:rPr>
              <a:t>ARTICULATION</a:t>
            </a:r>
            <a:endParaRPr b="0" lang="en-IN" sz="3600" spc="-1" strike="noStrike">
              <a:solidFill>
                <a:srgbClr val="000000"/>
              </a:solidFill>
              <a:latin typeface="Arial"/>
            </a:endParaRPr>
          </a:p>
        </p:txBody>
      </p:sp>
      <p:sp>
        <p:nvSpPr>
          <p:cNvPr id="86" name="TextBox 2"/>
          <p:cNvSpPr/>
          <p:nvPr/>
        </p:nvSpPr>
        <p:spPr>
          <a:xfrm>
            <a:off x="924480" y="2515320"/>
            <a:ext cx="10117800" cy="30157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2400" spc="-1" strike="noStrike">
                <a:solidFill>
                  <a:schemeClr val="lt1"/>
                </a:solidFill>
                <a:latin typeface="Aptos"/>
              </a:rPr>
              <a:t>Articulation We are choosing C++ for the Simulation Core because it is needed for deterministic timing and low-level memory control, which Python’s Global Interpreter Lock (GIL) cannot provide for OS simulations. D3.js was chosen over generic charting libraries because its data-binding allows for direct mapping of the B-Tree’s physical restructuring during the Insert operations, providing the visual proof required to build deep technical intuition by providing good visualization of their commands.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Google Shape;84;p13" descr="image.png"/>
          <p:cNvPicPr/>
          <p:nvPr/>
        </p:nvPicPr>
        <p:blipFill>
          <a:blip r:embed="rId1"/>
          <a:stretch/>
        </p:blipFill>
        <p:spPr>
          <a:xfrm>
            <a:off x="0" y="0"/>
            <a:ext cx="12191400" cy="6857280"/>
          </a:xfrm>
          <a:prstGeom prst="rect">
            <a:avLst/>
          </a:prstGeom>
          <a:ln w="0">
            <a:noFill/>
          </a:ln>
        </p:spPr>
      </p:pic>
      <p:sp>
        <p:nvSpPr>
          <p:cNvPr id="88"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89"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600" spc="-1" strike="noStrike">
                <a:solidFill>
                  <a:schemeClr val="lt1"/>
                </a:solidFill>
                <a:latin typeface="Artifakt Element Black"/>
                <a:ea typeface="Artifakt Element Black"/>
              </a:rPr>
              <a:t>FEASIBILITY </a:t>
            </a:r>
            <a:endParaRPr b="0" lang="en-IN" sz="3600" spc="-1" strike="noStrike">
              <a:solidFill>
                <a:srgbClr val="000000"/>
              </a:solidFill>
              <a:latin typeface="Arial"/>
            </a:endParaRPr>
          </a:p>
        </p:txBody>
      </p:sp>
      <p:sp>
        <p:nvSpPr>
          <p:cNvPr id="90" name="TextBox 6"/>
          <p:cNvSpPr/>
          <p:nvPr/>
        </p:nvSpPr>
        <p:spPr>
          <a:xfrm>
            <a:off x="834120" y="2552400"/>
            <a:ext cx="10319040" cy="35053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2800" spc="-1" strike="noStrike">
                <a:solidFill>
                  <a:schemeClr val="lt1"/>
                </a:solidFill>
                <a:latin typeface="Aptos"/>
              </a:rPr>
              <a:t>The primary technical challenge to overcome is the latency of real-time SQL execution in a web environment. We plan to solve this by building a Lightweight Virtual Machine (VM) shim in the backend that uses AST-based estimation. This allows the user to see the exact cost/process need of a query (like a Full Table Scan vs. Index Seek) in milliseconds without the resource overhead or security risks of a full-scale, live DBMS deployment.</a:t>
            </a:r>
            <a:endParaRPr b="0" lang="en-IN"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Google Shape;84;p13" descr="image.png"/>
          <p:cNvPicPr/>
          <p:nvPr/>
        </p:nvPicPr>
        <p:blipFill>
          <a:blip r:embed="rId1"/>
          <a:stretch/>
        </p:blipFill>
        <p:spPr>
          <a:xfrm>
            <a:off x="0" y="0"/>
            <a:ext cx="12191400" cy="6857280"/>
          </a:xfrm>
          <a:prstGeom prst="rect">
            <a:avLst/>
          </a:prstGeom>
          <a:ln w="0">
            <a:noFill/>
          </a:ln>
        </p:spPr>
      </p:pic>
      <p:sp>
        <p:nvSpPr>
          <p:cNvPr id="92"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93"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lt1"/>
                </a:solidFill>
                <a:latin typeface="Artifakt Element Black"/>
                <a:ea typeface="Artifakt Element Black"/>
              </a:rPr>
              <a:t>ROADMAP</a:t>
            </a:r>
            <a:endParaRPr b="0" lang="en-IN" sz="3600" spc="-1" strike="noStrike">
              <a:solidFill>
                <a:srgbClr val="000000"/>
              </a:solidFill>
              <a:latin typeface="Arial"/>
            </a:endParaRPr>
          </a:p>
        </p:txBody>
      </p:sp>
      <p:sp>
        <p:nvSpPr>
          <p:cNvPr id="94" name="TextBox 6"/>
          <p:cNvSpPr/>
          <p:nvPr/>
        </p:nvSpPr>
        <p:spPr>
          <a:xfrm>
            <a:off x="924480" y="2164680"/>
            <a:ext cx="10268640" cy="301572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00000"/>
              </a:lnSpc>
              <a:buClr>
                <a:srgbClr val="ffffff"/>
              </a:buClr>
              <a:buFont typeface="Arial"/>
              <a:buChar char="•"/>
            </a:pPr>
            <a:r>
              <a:rPr b="0" lang="en-US" sz="2400" spc="-1" strike="noStrike">
                <a:solidFill>
                  <a:schemeClr val="lt1"/>
                </a:solidFill>
                <a:latin typeface="Aptos"/>
              </a:rPr>
              <a:t>Phase 1 (Day 1-2): Backend implementation of the Bayesian Knowledge     Tracing (BKT) model and OS Memory Simulation logic. </a:t>
            </a:r>
            <a:endParaRPr b="0" lang="en-IN" sz="2400" spc="-1" strike="noStrike">
              <a:solidFill>
                <a:srgbClr val="000000"/>
              </a:solidFill>
              <a:latin typeface="Arial"/>
            </a:endParaRPr>
          </a:p>
          <a:p>
            <a:pPr algn="just" defTabSz="914400">
              <a:lnSpc>
                <a:spcPct val="100000"/>
              </a:lnSpc>
            </a:pPr>
            <a:endParaRPr b="0" lang="en-IN" sz="2400" spc="-1" strike="noStrike">
              <a:solidFill>
                <a:srgbClr val="000000"/>
              </a:solidFill>
              <a:latin typeface="Arial"/>
            </a:endParaRPr>
          </a:p>
          <a:p>
            <a:pPr marL="343080" indent="-343080" algn="just" defTabSz="914400">
              <a:lnSpc>
                <a:spcPct val="100000"/>
              </a:lnSpc>
              <a:buClr>
                <a:srgbClr val="ffffff"/>
              </a:buClr>
              <a:buFont typeface="Arial"/>
              <a:buChar char="•"/>
            </a:pPr>
            <a:r>
              <a:rPr b="0" lang="en-US" sz="2400" spc="-1" strike="noStrike">
                <a:solidFill>
                  <a:schemeClr val="lt1"/>
                </a:solidFill>
                <a:latin typeface="Aptos"/>
              </a:rPr>
              <a:t>Phase 2 (Day 3-4): React-based visualizers for B-Tree indexing and Memory Fragmentation; integration with the feedback agent. </a:t>
            </a:r>
            <a:endParaRPr b="0" lang="en-IN" sz="2400" spc="-1" strike="noStrike">
              <a:solidFill>
                <a:srgbClr val="000000"/>
              </a:solidFill>
              <a:latin typeface="Arial"/>
            </a:endParaRPr>
          </a:p>
          <a:p>
            <a:pPr algn="just" defTabSz="914400">
              <a:lnSpc>
                <a:spcPct val="100000"/>
              </a:lnSpc>
            </a:pPr>
            <a:endParaRPr b="0" lang="en-IN" sz="2400" spc="-1" strike="noStrike">
              <a:solidFill>
                <a:srgbClr val="000000"/>
              </a:solidFill>
              <a:latin typeface="Arial"/>
            </a:endParaRPr>
          </a:p>
          <a:p>
            <a:pPr marL="343080" indent="-343080" algn="just" defTabSz="914400">
              <a:lnSpc>
                <a:spcPct val="100000"/>
              </a:lnSpc>
              <a:buClr>
                <a:srgbClr val="ffffff"/>
              </a:buClr>
              <a:buFont typeface="Arial"/>
              <a:buChar char="•"/>
            </a:pPr>
            <a:r>
              <a:rPr b="0" lang="en-US" sz="2400" spc="-1" strike="noStrike">
                <a:solidFill>
                  <a:schemeClr val="lt1"/>
                </a:solidFill>
                <a:latin typeface="Aptos"/>
              </a:rPr>
              <a:t>Phase 3 (Day 5): Final optimization of state transitions and edge-case testing for the SQL Sandbox.</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Google Shape;84;p13" descr="image.png"/>
          <p:cNvPicPr/>
          <p:nvPr/>
        </p:nvPicPr>
        <p:blipFill>
          <a:blip r:embed="rId1"/>
          <a:stretch/>
        </p:blipFill>
        <p:spPr>
          <a:xfrm>
            <a:off x="0" y="0"/>
            <a:ext cx="12191400" cy="6857280"/>
          </a:xfrm>
          <a:prstGeom prst="rect">
            <a:avLst/>
          </a:prstGeom>
          <a:ln w="0">
            <a:noFill/>
          </a:ln>
        </p:spPr>
      </p:pic>
      <p:sp>
        <p:nvSpPr>
          <p:cNvPr id="96"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97"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lt1"/>
                </a:solidFill>
                <a:latin typeface="Artifakt Element Black"/>
                <a:ea typeface="Artifakt Element Black"/>
              </a:rPr>
              <a:t>RISK MITIGATION</a:t>
            </a:r>
            <a:endParaRPr b="0" lang="en-IN" sz="3600" spc="-1" strike="noStrike">
              <a:solidFill>
                <a:srgbClr val="000000"/>
              </a:solidFill>
              <a:latin typeface="Arial"/>
            </a:endParaRPr>
          </a:p>
        </p:txBody>
      </p:sp>
      <p:pic>
        <p:nvPicPr>
          <p:cNvPr id="98" name="Google Shape;85;p13" descr=""/>
          <p:cNvPicPr/>
          <p:nvPr/>
        </p:nvPicPr>
        <p:blipFill>
          <a:blip r:embed="rId2"/>
          <a:stretch/>
        </p:blipFill>
        <p:spPr>
          <a:xfrm>
            <a:off x="763560" y="2090160"/>
            <a:ext cx="3529800" cy="4129200"/>
          </a:xfrm>
          <a:prstGeom prst="rect">
            <a:avLst/>
          </a:prstGeom>
          <a:ln w="0">
            <a:noFill/>
          </a:ln>
        </p:spPr>
      </p:pic>
      <p:pic>
        <p:nvPicPr>
          <p:cNvPr id="99" name="Google Shape;85;p13" descr=""/>
          <p:cNvPicPr/>
          <p:nvPr/>
        </p:nvPicPr>
        <p:blipFill>
          <a:blip r:embed="rId3"/>
          <a:stretch/>
        </p:blipFill>
        <p:spPr>
          <a:xfrm>
            <a:off x="4503240" y="2090160"/>
            <a:ext cx="3529800" cy="4129200"/>
          </a:xfrm>
          <a:prstGeom prst="rect">
            <a:avLst/>
          </a:prstGeom>
          <a:ln w="0">
            <a:noFill/>
          </a:ln>
        </p:spPr>
      </p:pic>
      <p:pic>
        <p:nvPicPr>
          <p:cNvPr id="100" name="Google Shape;85;p13" descr=""/>
          <p:cNvPicPr/>
          <p:nvPr/>
        </p:nvPicPr>
        <p:blipFill>
          <a:blip r:embed="rId4"/>
          <a:stretch/>
        </p:blipFill>
        <p:spPr>
          <a:xfrm>
            <a:off x="8242920" y="2090160"/>
            <a:ext cx="3529800" cy="4129200"/>
          </a:xfrm>
          <a:prstGeom prst="rect">
            <a:avLst/>
          </a:prstGeom>
          <a:ln w="0">
            <a:noFill/>
          </a:ln>
        </p:spPr>
      </p:pic>
      <p:sp>
        <p:nvSpPr>
          <p:cNvPr id="101" name="TextBox 9"/>
          <p:cNvSpPr/>
          <p:nvPr/>
        </p:nvSpPr>
        <p:spPr>
          <a:xfrm>
            <a:off x="924480" y="2493000"/>
            <a:ext cx="60937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pc="-1" strike="noStrike">
                <a:solidFill>
                  <a:srgbClr val="38bdf8"/>
                </a:solidFill>
                <a:latin typeface="Poppins"/>
              </a:rPr>
              <a:t>Simulation Accuracy Risk :</a:t>
            </a:r>
            <a:endParaRPr b="0" lang="en-IN" sz="1800" spc="-1" strike="noStrike">
              <a:solidFill>
                <a:srgbClr val="000000"/>
              </a:solidFill>
              <a:latin typeface="Arial"/>
            </a:endParaRPr>
          </a:p>
        </p:txBody>
      </p:sp>
      <p:sp>
        <p:nvSpPr>
          <p:cNvPr id="102" name="TextBox 10"/>
          <p:cNvSpPr/>
          <p:nvPr/>
        </p:nvSpPr>
        <p:spPr>
          <a:xfrm>
            <a:off x="4653360" y="2484000"/>
            <a:ext cx="60937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pc="-1" strike="noStrike">
                <a:solidFill>
                  <a:srgbClr val="38bdf8"/>
                </a:solidFill>
                <a:latin typeface="Poppins"/>
              </a:rPr>
              <a:t>Performance &amp; Latency:</a:t>
            </a:r>
            <a:endParaRPr b="0" lang="en-IN" sz="1800" spc="-1" strike="noStrike">
              <a:solidFill>
                <a:srgbClr val="000000"/>
              </a:solidFill>
              <a:latin typeface="Arial"/>
            </a:endParaRPr>
          </a:p>
        </p:txBody>
      </p:sp>
      <p:sp>
        <p:nvSpPr>
          <p:cNvPr id="103" name="TextBox 11"/>
          <p:cNvSpPr/>
          <p:nvPr/>
        </p:nvSpPr>
        <p:spPr>
          <a:xfrm>
            <a:off x="8490960" y="2493000"/>
            <a:ext cx="60937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pc="-1" strike="noStrike">
                <a:solidFill>
                  <a:srgbClr val="38bdf8"/>
                </a:solidFill>
                <a:latin typeface="Poppins"/>
              </a:rPr>
              <a:t>Engagement Drop-Off:</a:t>
            </a:r>
            <a:endParaRPr b="0" lang="en-IN" sz="1800" spc="-1" strike="noStrike">
              <a:solidFill>
                <a:srgbClr val="000000"/>
              </a:solidFill>
              <a:latin typeface="Arial"/>
            </a:endParaRPr>
          </a:p>
        </p:txBody>
      </p:sp>
      <p:sp>
        <p:nvSpPr>
          <p:cNvPr id="104" name="TextBox 13"/>
          <p:cNvSpPr/>
          <p:nvPr/>
        </p:nvSpPr>
        <p:spPr>
          <a:xfrm>
            <a:off x="924480" y="3021480"/>
            <a:ext cx="3370680" cy="2801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600" spc="-1" strike="noStrike">
                <a:solidFill>
                  <a:schemeClr val="accent5">
                    <a:lumMod val="60000"/>
                    <a:lumOff val="40000"/>
                  </a:schemeClr>
                </a:solidFill>
                <a:latin typeface="Aptos"/>
              </a:rPr>
              <a:t>Risk:</a:t>
            </a:r>
            <a:r>
              <a:rPr b="0" lang="en-IN" sz="1600" spc="-1" strike="noStrike">
                <a:solidFill>
                  <a:schemeClr val="accent5">
                    <a:lumMod val="60000"/>
                    <a:lumOff val="40000"/>
                  </a:schemeClr>
                </a:solidFill>
                <a:latin typeface="Aptos"/>
              </a:rPr>
              <a:t> </a:t>
            </a:r>
            <a:r>
              <a:rPr b="0" lang="en-IN" sz="1600" spc="-1" strike="noStrike">
                <a:solidFill>
                  <a:schemeClr val="lt1"/>
                </a:solidFill>
                <a:latin typeface="Aptos"/>
              </a:rPr>
              <a:t>Oversimplified models may misrepresent OS/DBMS behavior.</a:t>
            </a:r>
            <a:br>
              <a:rPr sz="1600"/>
            </a:br>
            <a:r>
              <a:rPr b="1" lang="en-IN" sz="1800" spc="-1" strike="noStrike">
                <a:solidFill>
                  <a:schemeClr val="accent3">
                    <a:lumMod val="60000"/>
                    <a:lumOff val="40000"/>
                  </a:schemeClr>
                </a:solidFill>
                <a:latin typeface="Aptos"/>
              </a:rPr>
              <a:t>Mitigation:</a:t>
            </a:r>
            <a:endParaRPr b="0" lang="en-IN" sz="18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Base simulations on standard textbook algorithms (FCFS, SJF, RR, 2PL, B+ Trees, etc.)</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Validate outputs against reference implementations</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Allow configurable abstraction levels (basic → advanced)</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p:txBody>
      </p:sp>
      <p:sp>
        <p:nvSpPr>
          <p:cNvPr id="105" name="TextBox 15"/>
          <p:cNvSpPr/>
          <p:nvPr/>
        </p:nvSpPr>
        <p:spPr>
          <a:xfrm>
            <a:off x="4653360" y="3021480"/>
            <a:ext cx="3229920" cy="2938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pc="-1" strike="noStrike">
                <a:solidFill>
                  <a:schemeClr val="accent5">
                    <a:lumMod val="60000"/>
                    <a:lumOff val="40000"/>
                  </a:schemeClr>
                </a:solidFill>
                <a:latin typeface="Aptos"/>
              </a:rPr>
              <a:t>Risk:</a:t>
            </a:r>
            <a:r>
              <a:rPr b="0" lang="en-US" sz="1600" spc="-1" strike="noStrike">
                <a:solidFill>
                  <a:schemeClr val="accent5">
                    <a:lumMod val="60000"/>
                    <a:lumOff val="40000"/>
                  </a:schemeClr>
                </a:solidFill>
                <a:latin typeface="Aptos"/>
              </a:rPr>
              <a:t> </a:t>
            </a:r>
            <a:r>
              <a:rPr b="0" lang="en-US" sz="1600" spc="-1" strike="noStrike">
                <a:solidFill>
                  <a:schemeClr val="lt1"/>
                </a:solidFill>
                <a:latin typeface="Aptos"/>
              </a:rPr>
              <a:t>Real-time simulation may lag with multiple users.</a:t>
            </a:r>
            <a:br>
              <a:rPr sz="1600"/>
            </a:br>
            <a:r>
              <a:rPr b="1" lang="en-US" sz="1600" spc="-1" strike="noStrike">
                <a:solidFill>
                  <a:schemeClr val="accent3">
                    <a:lumMod val="60000"/>
                    <a:lumOff val="40000"/>
                  </a:schemeClr>
                </a:solidFill>
                <a:latin typeface="Aptos"/>
              </a:rPr>
              <a:t>Mitigation:</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US" sz="1550" spc="-1" strike="noStrike">
                <a:solidFill>
                  <a:schemeClr val="lt1"/>
                </a:solidFill>
                <a:latin typeface="Aptos"/>
              </a:rPr>
              <a:t>Client-side lightweight state engine</a:t>
            </a:r>
            <a:endParaRPr b="0" lang="en-IN" sz="1550" spc="-1" strike="noStrike">
              <a:solidFill>
                <a:srgbClr val="000000"/>
              </a:solidFill>
              <a:latin typeface="Arial"/>
            </a:endParaRPr>
          </a:p>
          <a:p>
            <a:pPr marL="285840" indent="-285840" defTabSz="914400">
              <a:lnSpc>
                <a:spcPct val="100000"/>
              </a:lnSpc>
              <a:buClr>
                <a:srgbClr val="ffffff"/>
              </a:buClr>
              <a:buFont typeface="Arial"/>
              <a:buChar char="•"/>
            </a:pPr>
            <a:r>
              <a:rPr b="0" lang="en-US" sz="1550" spc="-1" strike="noStrike">
                <a:solidFill>
                  <a:schemeClr val="lt1"/>
                </a:solidFill>
                <a:latin typeface="Aptos"/>
              </a:rPr>
              <a:t>Precomputed computation modules</a:t>
            </a:r>
            <a:endParaRPr b="0" lang="en-IN" sz="1550" spc="-1" strike="noStrike">
              <a:solidFill>
                <a:srgbClr val="000000"/>
              </a:solidFill>
              <a:latin typeface="Arial"/>
            </a:endParaRPr>
          </a:p>
          <a:p>
            <a:pPr marL="285840" indent="-285840" defTabSz="914400">
              <a:lnSpc>
                <a:spcPct val="100000"/>
              </a:lnSpc>
              <a:buClr>
                <a:srgbClr val="ffffff"/>
              </a:buClr>
              <a:buFont typeface="Arial"/>
              <a:buChar char="•"/>
            </a:pPr>
            <a:r>
              <a:rPr b="0" lang="en-US" sz="1550" spc="-1" strike="noStrike">
                <a:solidFill>
                  <a:schemeClr val="lt1"/>
                </a:solidFill>
                <a:latin typeface="Aptos"/>
              </a:rPr>
              <a:t>Efficient event-driven architecture</a:t>
            </a:r>
            <a:endParaRPr b="0" lang="en-IN" sz="1550" spc="-1" strike="noStrike">
              <a:solidFill>
                <a:srgbClr val="000000"/>
              </a:solidFill>
              <a:latin typeface="Arial"/>
            </a:endParaRPr>
          </a:p>
          <a:p>
            <a:pPr marL="285840" indent="-285840" defTabSz="914400">
              <a:lnSpc>
                <a:spcPct val="100000"/>
              </a:lnSpc>
              <a:buClr>
                <a:srgbClr val="ffffff"/>
              </a:buClr>
              <a:buFont typeface="Arial"/>
              <a:buChar char="•"/>
            </a:pPr>
            <a:r>
              <a:rPr b="0" lang="en-US" sz="1550" spc="-1" strike="noStrike">
                <a:solidFill>
                  <a:schemeClr val="lt1"/>
                </a:solidFill>
                <a:latin typeface="Aptos"/>
              </a:rPr>
              <a:t>Horizontal scaling via cloud deployment</a:t>
            </a:r>
            <a:endParaRPr b="0" lang="en-IN" sz="1550" spc="-1" strike="noStrike">
              <a:solidFill>
                <a:srgbClr val="000000"/>
              </a:solidFill>
              <a:latin typeface="Arial"/>
            </a:endParaRPr>
          </a:p>
          <a:p>
            <a:pPr defTabSz="914400">
              <a:lnSpc>
                <a:spcPct val="100000"/>
              </a:lnSpc>
            </a:pPr>
            <a:endParaRPr b="0" lang="en-IN" sz="1500" spc="-1" strike="noStrike">
              <a:solidFill>
                <a:srgbClr val="000000"/>
              </a:solidFill>
              <a:latin typeface="Arial"/>
            </a:endParaRPr>
          </a:p>
        </p:txBody>
      </p:sp>
      <p:sp>
        <p:nvSpPr>
          <p:cNvPr id="106" name="TextBox 17"/>
          <p:cNvSpPr/>
          <p:nvPr/>
        </p:nvSpPr>
        <p:spPr>
          <a:xfrm>
            <a:off x="8322840" y="3021480"/>
            <a:ext cx="3370680" cy="3258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600" spc="-1" strike="noStrike">
                <a:solidFill>
                  <a:schemeClr val="accent5">
                    <a:lumMod val="60000"/>
                    <a:lumOff val="40000"/>
                  </a:schemeClr>
                </a:solidFill>
                <a:latin typeface="Aptos"/>
              </a:rPr>
              <a:t>Risk:</a:t>
            </a:r>
            <a:r>
              <a:rPr b="0" lang="en-IN" sz="1600" spc="-1" strike="noStrike">
                <a:solidFill>
                  <a:schemeClr val="accent5">
                    <a:lumMod val="60000"/>
                    <a:lumOff val="40000"/>
                  </a:schemeClr>
                </a:solidFill>
                <a:latin typeface="Aptos"/>
              </a:rPr>
              <a:t> </a:t>
            </a:r>
            <a:r>
              <a:rPr b="0" lang="en-IN" sz="1600" spc="-1" strike="noStrike">
                <a:solidFill>
                  <a:schemeClr val="lt1"/>
                </a:solidFill>
                <a:latin typeface="Aptos"/>
              </a:rPr>
              <a:t>Students may lose interest after novelty fades.</a:t>
            </a:r>
            <a:br>
              <a:rPr sz="1600"/>
            </a:br>
            <a:r>
              <a:rPr b="1" lang="en-IN" sz="1600" spc="-1" strike="noStrike">
                <a:solidFill>
                  <a:schemeClr val="accent3">
                    <a:lumMod val="60000"/>
                    <a:lumOff val="40000"/>
                  </a:schemeClr>
                </a:solidFill>
                <a:latin typeface="Aptos"/>
              </a:rPr>
              <a:t>Mitigation:</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Progressive difficulty levels</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Leaderboards + streaks</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Scenario-based missions (e.g., “Optimize this DB under load”)</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Achievement unlocking system</a:t>
            </a:r>
            <a:endParaRPr b="0" lang="en-IN" sz="1600" spc="-1" strike="noStrike">
              <a:solidFill>
                <a:srgbClr val="000000"/>
              </a:solidFill>
              <a:latin typeface="Arial"/>
            </a:endParaRPr>
          </a:p>
          <a:p>
            <a:pPr defTabSz="914400">
              <a:lnSpc>
                <a:spcPct val="100000"/>
              </a:lnSpc>
            </a:pPr>
            <a:r>
              <a:rPr b="0" lang="en-IN" sz="1600" spc="-1" strike="noStrike">
                <a:solidFill>
                  <a:schemeClr val="lt1"/>
                </a:solidFill>
                <a:latin typeface="Aptos"/>
              </a:rPr>
              <a:t> </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p:txBody>
      </p:sp>
      <p:sp>
        <p:nvSpPr>
          <p:cNvPr id="107" name="TextBox 1"/>
          <p:cNvSpPr/>
          <p:nvPr/>
        </p:nvSpPr>
        <p:spPr>
          <a:xfrm>
            <a:off x="4871520" y="5732640"/>
            <a:ext cx="339228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600" spc="-1" strike="noStrike">
                <a:solidFill>
                  <a:schemeClr val="lt1"/>
                </a:solidFill>
                <a:latin typeface="Aptos"/>
              </a:rPr>
              <a:t>=&gt;Keeps interaction smooth</a:t>
            </a:r>
            <a:r>
              <a:rPr b="0" lang="en-IN" sz="1800" spc="-1" strike="noStrike">
                <a:solidFill>
                  <a:schemeClr val="lt1"/>
                </a:solidFill>
                <a:latin typeface="Aptos"/>
              </a:rPr>
              <a:t>.</a:t>
            </a:r>
            <a:endParaRPr b="0" lang="en-IN" sz="1800" spc="-1" strike="noStrike">
              <a:solidFill>
                <a:srgbClr val="000000"/>
              </a:solidFill>
              <a:latin typeface="Arial"/>
            </a:endParaRPr>
          </a:p>
          <a:p>
            <a:pPr defTabSz="914400">
              <a:lnSpc>
                <a:spcPct val="100000"/>
              </a:lnSpc>
            </a:pPr>
            <a:endParaRPr b="0" lang="en-IN" sz="1800" spc="-1" strike="noStrike">
              <a:solidFill>
                <a:srgbClr val="000000"/>
              </a:solidFill>
              <a:latin typeface="Arial"/>
            </a:endParaRPr>
          </a:p>
        </p:txBody>
      </p:sp>
      <p:sp>
        <p:nvSpPr>
          <p:cNvPr id="108" name="TextBox 2"/>
          <p:cNvSpPr/>
          <p:nvPr/>
        </p:nvSpPr>
        <p:spPr>
          <a:xfrm>
            <a:off x="834120" y="5506560"/>
            <a:ext cx="3250080" cy="1064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IN" sz="1600" spc="-1" strike="noStrike">
              <a:solidFill>
                <a:srgbClr val="000000"/>
              </a:solidFill>
              <a:latin typeface="Arial"/>
            </a:endParaRPr>
          </a:p>
          <a:p>
            <a:pPr defTabSz="914400">
              <a:lnSpc>
                <a:spcPct val="100000"/>
              </a:lnSpc>
            </a:pPr>
            <a:r>
              <a:rPr b="0" lang="en-IN" sz="1600" spc="-1" strike="noStrike">
                <a:solidFill>
                  <a:schemeClr val="lt1"/>
                </a:solidFill>
                <a:latin typeface="Aptos"/>
              </a:rPr>
              <a:t>=&gt;Ensures academic correctness.</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p:txBody>
      </p:sp>
      <p:sp>
        <p:nvSpPr>
          <p:cNvPr id="109" name="TextBox 6"/>
          <p:cNvSpPr/>
          <p:nvPr/>
        </p:nvSpPr>
        <p:spPr>
          <a:xfrm>
            <a:off x="8366760" y="5735880"/>
            <a:ext cx="3224160" cy="5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600" spc="-1" strike="noStrike">
                <a:solidFill>
                  <a:schemeClr val="lt1"/>
                </a:solidFill>
                <a:latin typeface="Aptos"/>
              </a:rPr>
              <a:t>=&gt;Sustains long-term engagement</a:t>
            </a:r>
            <a:endParaRPr b="0" lang="en-IN"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 name="Google Shape;84;p13" descr="image.png"/>
          <p:cNvPicPr/>
          <p:nvPr/>
        </p:nvPicPr>
        <p:blipFill>
          <a:blip r:embed="rId1"/>
          <a:stretch/>
        </p:blipFill>
        <p:spPr>
          <a:xfrm>
            <a:off x="0" y="0"/>
            <a:ext cx="12191400" cy="6857280"/>
          </a:xfrm>
          <a:prstGeom prst="rect">
            <a:avLst/>
          </a:prstGeom>
          <a:ln w="0">
            <a:noFill/>
          </a:ln>
        </p:spPr>
      </p:pic>
      <p:sp>
        <p:nvSpPr>
          <p:cNvPr id="111"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112"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lt1"/>
                </a:solidFill>
                <a:latin typeface="Artifakt Element Black"/>
                <a:ea typeface="Artifakt Element Black"/>
              </a:rPr>
              <a:t>RISK MITIGATION</a:t>
            </a:r>
            <a:endParaRPr b="0" lang="en-IN" sz="3600" spc="-1" strike="noStrike">
              <a:solidFill>
                <a:srgbClr val="000000"/>
              </a:solidFill>
              <a:latin typeface="Arial"/>
            </a:endParaRPr>
          </a:p>
        </p:txBody>
      </p:sp>
      <p:pic>
        <p:nvPicPr>
          <p:cNvPr id="113" name="Google Shape;85;p13" descr=""/>
          <p:cNvPicPr/>
          <p:nvPr/>
        </p:nvPicPr>
        <p:blipFill>
          <a:blip r:embed="rId2"/>
          <a:stretch/>
        </p:blipFill>
        <p:spPr>
          <a:xfrm>
            <a:off x="2076480" y="2090160"/>
            <a:ext cx="3529800" cy="3890520"/>
          </a:xfrm>
          <a:prstGeom prst="rect">
            <a:avLst/>
          </a:prstGeom>
          <a:ln w="0">
            <a:noFill/>
          </a:ln>
        </p:spPr>
      </p:pic>
      <p:pic>
        <p:nvPicPr>
          <p:cNvPr id="114" name="Google Shape;85;p13" descr=""/>
          <p:cNvPicPr/>
          <p:nvPr/>
        </p:nvPicPr>
        <p:blipFill>
          <a:blip r:embed="rId3"/>
          <a:stretch/>
        </p:blipFill>
        <p:spPr>
          <a:xfrm>
            <a:off x="6734880" y="2090160"/>
            <a:ext cx="3529800" cy="3890520"/>
          </a:xfrm>
          <a:prstGeom prst="rect">
            <a:avLst/>
          </a:prstGeom>
          <a:ln w="0">
            <a:noFill/>
          </a:ln>
        </p:spPr>
      </p:pic>
      <p:sp>
        <p:nvSpPr>
          <p:cNvPr id="115" name="TextBox 9"/>
          <p:cNvSpPr/>
          <p:nvPr/>
        </p:nvSpPr>
        <p:spPr>
          <a:xfrm>
            <a:off x="2237400" y="2493000"/>
            <a:ext cx="60937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pc="-1" strike="noStrike">
                <a:solidFill>
                  <a:srgbClr val="38bdf8"/>
                </a:solidFill>
                <a:latin typeface="Poppins"/>
              </a:rPr>
              <a:t>Concept Over Complexity :</a:t>
            </a:r>
            <a:endParaRPr b="0" lang="en-IN" sz="1800" spc="-1" strike="noStrike">
              <a:solidFill>
                <a:srgbClr val="000000"/>
              </a:solidFill>
              <a:latin typeface="Arial"/>
            </a:endParaRPr>
          </a:p>
        </p:txBody>
      </p:sp>
      <p:sp>
        <p:nvSpPr>
          <p:cNvPr id="116" name="TextBox 10"/>
          <p:cNvSpPr/>
          <p:nvPr/>
        </p:nvSpPr>
        <p:spPr>
          <a:xfrm>
            <a:off x="6907680" y="2493000"/>
            <a:ext cx="60937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pc="-1" strike="noStrike">
                <a:solidFill>
                  <a:srgbClr val="38bdf8"/>
                </a:solidFill>
                <a:latin typeface="Poppins"/>
              </a:rPr>
              <a:t>Infrastructure Cost Risk :</a:t>
            </a:r>
            <a:endParaRPr b="0" lang="en-IN" sz="1800" spc="-1" strike="noStrike">
              <a:solidFill>
                <a:srgbClr val="000000"/>
              </a:solidFill>
              <a:latin typeface="Arial"/>
            </a:endParaRPr>
          </a:p>
        </p:txBody>
      </p:sp>
      <p:sp>
        <p:nvSpPr>
          <p:cNvPr id="117" name="TextBox 13"/>
          <p:cNvSpPr/>
          <p:nvPr/>
        </p:nvSpPr>
        <p:spPr>
          <a:xfrm>
            <a:off x="2237400" y="3021480"/>
            <a:ext cx="3370680" cy="2770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600" spc="-1" strike="noStrike">
                <a:solidFill>
                  <a:schemeClr val="accent5">
                    <a:lumMod val="60000"/>
                    <a:lumOff val="40000"/>
                  </a:schemeClr>
                </a:solidFill>
                <a:latin typeface="Aptos"/>
              </a:rPr>
              <a:t>Risk:</a:t>
            </a:r>
            <a:r>
              <a:rPr b="0" lang="en-IN" sz="1600" spc="-1" strike="noStrike">
                <a:solidFill>
                  <a:schemeClr val="lt1"/>
                </a:solidFill>
                <a:latin typeface="Aptos"/>
              </a:rPr>
              <a:t> OS &amp; DBMS topics can overwhelm beginners.</a:t>
            </a:r>
            <a:br>
              <a:rPr sz="1600"/>
            </a:br>
            <a:r>
              <a:rPr b="1" lang="en-IN" sz="1600" spc="-1" strike="noStrike">
                <a:solidFill>
                  <a:schemeClr val="accent3">
                    <a:lumMod val="60000"/>
                    <a:lumOff val="40000"/>
                  </a:schemeClr>
                </a:solidFill>
                <a:latin typeface="Aptos"/>
              </a:rPr>
              <a:t>Mitigation:</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Guided learning mode</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Visual step-by-step explanation</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Sandbox + Safe-fail experimentation</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AI hints (adaptive assistance)</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p:txBody>
      </p:sp>
      <p:sp>
        <p:nvSpPr>
          <p:cNvPr id="118" name="TextBox 15"/>
          <p:cNvSpPr/>
          <p:nvPr/>
        </p:nvSpPr>
        <p:spPr>
          <a:xfrm>
            <a:off x="6885000" y="3021480"/>
            <a:ext cx="3229920" cy="228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600" spc="-1" strike="noStrike">
                <a:solidFill>
                  <a:schemeClr val="accent5">
                    <a:lumMod val="60000"/>
                    <a:lumOff val="40000"/>
                  </a:schemeClr>
                </a:solidFill>
                <a:latin typeface="Aptos"/>
              </a:rPr>
              <a:t>Risk:</a:t>
            </a:r>
            <a:r>
              <a:rPr b="0" lang="en-IN" sz="1600" spc="-1" strike="noStrike">
                <a:solidFill>
                  <a:schemeClr val="lt1"/>
                </a:solidFill>
                <a:latin typeface="Aptos"/>
              </a:rPr>
              <a:t> Simulation at scale increases server cost.</a:t>
            </a:r>
            <a:br>
              <a:rPr sz="1600"/>
            </a:br>
            <a:r>
              <a:rPr b="1" lang="en-IN" sz="1600" spc="-1" strike="noStrike">
                <a:solidFill>
                  <a:schemeClr val="accent3">
                    <a:lumMod val="60000"/>
                    <a:lumOff val="40000"/>
                  </a:schemeClr>
                </a:solidFill>
                <a:latin typeface="Aptos"/>
              </a:rPr>
              <a:t>Mitigation:</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Hybrid architecture (client simulation + minimal backend logic)</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Modular compute containers</a:t>
            </a:r>
            <a:endParaRPr b="0" lang="en-IN" sz="1600" spc="-1" strike="noStrike">
              <a:solidFill>
                <a:srgbClr val="000000"/>
              </a:solidFill>
              <a:latin typeface="Arial"/>
            </a:endParaRPr>
          </a:p>
          <a:p>
            <a:pPr marL="285840" indent="-285840" defTabSz="914400">
              <a:lnSpc>
                <a:spcPct val="100000"/>
              </a:lnSpc>
              <a:buClr>
                <a:srgbClr val="ffffff"/>
              </a:buClr>
              <a:buFont typeface="Arial"/>
              <a:buChar char="•"/>
            </a:pPr>
            <a:r>
              <a:rPr b="0" lang="en-IN" sz="1600" spc="-1" strike="noStrike">
                <a:solidFill>
                  <a:schemeClr val="lt1"/>
                </a:solidFill>
                <a:latin typeface="Aptos"/>
              </a:rPr>
              <a:t>Usage-based scaling</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p:txBody>
      </p:sp>
      <p:sp>
        <p:nvSpPr>
          <p:cNvPr id="119" name="TextBox 1"/>
          <p:cNvSpPr/>
          <p:nvPr/>
        </p:nvSpPr>
        <p:spPr>
          <a:xfrm>
            <a:off x="6814080" y="5303520"/>
            <a:ext cx="3875400" cy="546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500" spc="-1" strike="noStrike">
                <a:solidFill>
                  <a:schemeClr val="lt1"/>
                </a:solidFill>
                <a:latin typeface="Aptos"/>
              </a:rPr>
              <a:t>=&gt; Keeps operational cost manageable.</a:t>
            </a:r>
            <a:endParaRPr b="0" lang="en-IN" sz="1500" spc="-1" strike="noStrike">
              <a:solidFill>
                <a:srgbClr val="000000"/>
              </a:solidFill>
              <a:latin typeface="Arial"/>
            </a:endParaRPr>
          </a:p>
          <a:p>
            <a:pPr defTabSz="914400">
              <a:lnSpc>
                <a:spcPct val="100000"/>
              </a:lnSpc>
            </a:pPr>
            <a:endParaRPr b="0" lang="en-IN" sz="1500" spc="-1" strike="noStrike">
              <a:solidFill>
                <a:srgbClr val="000000"/>
              </a:solidFill>
              <a:latin typeface="Arial"/>
            </a:endParaRPr>
          </a:p>
        </p:txBody>
      </p:sp>
      <p:sp>
        <p:nvSpPr>
          <p:cNvPr id="120" name="TextBox 2"/>
          <p:cNvSpPr/>
          <p:nvPr/>
        </p:nvSpPr>
        <p:spPr>
          <a:xfrm>
            <a:off x="2394720" y="5272920"/>
            <a:ext cx="3529800" cy="5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600" spc="-1" strike="noStrike">
                <a:solidFill>
                  <a:schemeClr val="lt1"/>
                </a:solidFill>
                <a:latin typeface="Aptos"/>
              </a:rPr>
              <a:t>=&gt; Reduces cognitive overload.</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1" name="Google Shape;84;p13" descr="image.png"/>
          <p:cNvPicPr/>
          <p:nvPr/>
        </p:nvPicPr>
        <p:blipFill>
          <a:blip r:embed="rId1"/>
          <a:stretch/>
        </p:blipFill>
        <p:spPr>
          <a:xfrm>
            <a:off x="360" y="360"/>
            <a:ext cx="12191400" cy="6857280"/>
          </a:xfrm>
          <a:prstGeom prst="rect">
            <a:avLst/>
          </a:prstGeom>
          <a:ln w="0">
            <a:noFill/>
          </a:ln>
        </p:spPr>
      </p:pic>
      <p:sp>
        <p:nvSpPr>
          <p:cNvPr id="122" name="Rectangle 3"/>
          <p:cNvSpPr/>
          <p:nvPr/>
        </p:nvSpPr>
        <p:spPr>
          <a:xfrm>
            <a:off x="763560" y="934560"/>
            <a:ext cx="69480" cy="682560"/>
          </a:xfrm>
          <a:prstGeom prst="rect">
            <a:avLst/>
          </a:prstGeom>
          <a:solidFill>
            <a:schemeClr val="accent3">
              <a:lumMod val="60000"/>
              <a:lumOff val="40000"/>
            </a:schemeClr>
          </a:solidFill>
          <a:ln>
            <a:solidFill>
              <a:srgbClr val="47d45a"/>
            </a:solidFill>
          </a:ln>
        </p:spPr>
        <p:style>
          <a:lnRef idx="3">
            <a:schemeClr val="lt1"/>
          </a:lnRef>
          <a:fillRef idx="1">
            <a:schemeClr val="accent6"/>
          </a:fillRef>
          <a:effectRef idx="1">
            <a:schemeClr val="accent6"/>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Aptos"/>
            </a:endParaRPr>
          </a:p>
        </p:txBody>
      </p:sp>
      <p:sp>
        <p:nvSpPr>
          <p:cNvPr id="123" name="TextBox 4"/>
          <p:cNvSpPr/>
          <p:nvPr/>
        </p:nvSpPr>
        <p:spPr>
          <a:xfrm>
            <a:off x="924480" y="934560"/>
            <a:ext cx="7827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lt1"/>
                </a:solidFill>
                <a:latin typeface="Artifakt Element Black"/>
                <a:ea typeface="Artifakt Element Black"/>
              </a:rPr>
              <a:t>TEAM FLUX</a:t>
            </a:r>
            <a:endParaRPr b="0" lang="en-IN" sz="3600" spc="-1" strike="noStrike">
              <a:solidFill>
                <a:srgbClr val="000000"/>
              </a:solidFill>
              <a:latin typeface="Arial"/>
            </a:endParaRPr>
          </a:p>
        </p:txBody>
      </p:sp>
      <p:sp>
        <p:nvSpPr>
          <p:cNvPr id="124" name="TextBox 1"/>
          <p:cNvSpPr/>
          <p:nvPr/>
        </p:nvSpPr>
        <p:spPr>
          <a:xfrm>
            <a:off x="924480" y="2515320"/>
            <a:ext cx="10339200" cy="3217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400" spc="-1" strike="noStrike">
                <a:solidFill>
                  <a:schemeClr val="lt1"/>
                </a:solidFill>
                <a:latin typeface="Aptos"/>
              </a:rPr>
              <a:t>Team Lead: ARSH RANA – Game Engine and Backend Lead  -                    </a:t>
            </a:r>
            <a:r>
              <a:rPr b="0" lang="en-US" sz="2400" spc="-1" strike="noStrike" u="sng">
                <a:solidFill>
                  <a:schemeClr val="lt1"/>
                </a:solidFill>
                <a:uFillTx/>
                <a:latin typeface="Aptos"/>
                <a:hlinkClick r:id="rId2"/>
              </a:rPr>
              <a:t>q</a:t>
            </a:r>
            <a:r>
              <a:rPr b="0" lang="en-IN" sz="2400" spc="-1" strike="noStrike" u="sng">
                <a:solidFill>
                  <a:schemeClr val="lt1"/>
                </a:solidFill>
                <a:uFillTx/>
                <a:latin typeface="Aptos"/>
                <a:hlinkClick r:id="rId3"/>
              </a:rPr>
              <a:t>43676709@gmail.com</a:t>
            </a:r>
            <a:endParaRPr b="0" lang="en-IN" sz="2400" spc="-1" strike="noStrike">
              <a:solidFill>
                <a:srgbClr val="000000"/>
              </a:solidFill>
              <a:latin typeface="Arial"/>
            </a:endParaRPr>
          </a:p>
          <a:p>
            <a:pPr defTabSz="914400">
              <a:lnSpc>
                <a:spcPct val="100000"/>
              </a:lnSpc>
            </a:pPr>
            <a:r>
              <a:rPr b="0" lang="en-US" sz="2400" spc="-1" strike="noStrike">
                <a:solidFill>
                  <a:schemeClr val="lt1"/>
                </a:solidFill>
                <a:latin typeface="Aptos"/>
              </a:rPr>
              <a:t>Member 2: AKARSH BHARDWAJ – Frontend Developer and UI/UX  - </a:t>
            </a:r>
            <a:r>
              <a:rPr b="0" lang="en-IN" sz="2400" spc="-1" strike="noStrike" u="sng">
                <a:solidFill>
                  <a:schemeClr val="lt1"/>
                </a:solidFill>
                <a:uFillTx/>
                <a:latin typeface="Aptos"/>
                <a:hlinkClick r:id="rId4"/>
              </a:rPr>
              <a:t>akarshb23@gmail.com</a:t>
            </a:r>
            <a:endParaRPr b="0" lang="en-IN" sz="2400" spc="-1" strike="noStrike">
              <a:solidFill>
                <a:srgbClr val="000000"/>
              </a:solidFill>
              <a:latin typeface="Arial"/>
            </a:endParaRPr>
          </a:p>
          <a:p>
            <a:pPr defTabSz="914400">
              <a:lnSpc>
                <a:spcPct val="100000"/>
              </a:lnSpc>
            </a:pPr>
            <a:r>
              <a:rPr b="0" lang="en-US" sz="2400" spc="-1" strike="noStrike">
                <a:solidFill>
                  <a:schemeClr val="lt1"/>
                </a:solidFill>
                <a:latin typeface="Aptos"/>
              </a:rPr>
              <a:t>Member 3: ASHWANI BHARDWAJ – FRONTEND Dev and Devops - </a:t>
            </a:r>
            <a:r>
              <a:rPr b="0" lang="en-US" sz="2400" spc="-1" strike="noStrike" u="sng">
                <a:solidFill>
                  <a:schemeClr val="lt1"/>
                </a:solidFill>
                <a:uFillTx/>
                <a:latin typeface="Aptos"/>
                <a:hlinkClick r:id="rId5"/>
              </a:rPr>
              <a:t>ashwanib707@gmail.com</a:t>
            </a:r>
            <a:endParaRPr b="0" lang="en-IN" sz="2400" spc="-1" strike="noStrike">
              <a:solidFill>
                <a:srgbClr val="000000"/>
              </a:solidFill>
              <a:latin typeface="Arial"/>
            </a:endParaRPr>
          </a:p>
          <a:p>
            <a:pPr defTabSz="914400">
              <a:lnSpc>
                <a:spcPct val="100000"/>
              </a:lnSpc>
            </a:pPr>
            <a:r>
              <a:rPr b="0" lang="en-US" sz="2400" spc="-1" strike="noStrike">
                <a:solidFill>
                  <a:schemeClr val="lt1"/>
                </a:solidFill>
                <a:latin typeface="Aptos"/>
              </a:rPr>
              <a:t>Member 4: ATHARVA RAI – GenAi Integration and Backend dev - </a:t>
            </a:r>
            <a:r>
              <a:rPr b="0" lang="en-US" sz="2400" spc="-1" strike="noStrike">
                <a:solidFill>
                  <a:schemeClr val="lt1"/>
                </a:solidFill>
                <a:latin typeface="Aptos"/>
                <a:ea typeface="Google Sans Text"/>
                <a:hlinkClick r:id="rId6"/>
              </a:rPr>
              <a:t>raiatharva24.in@gmail.com</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213</TotalTime>
  <Application>LibreOffice/24.2.7.2$Linux_X86_64 LibreOffice_project/420$Build-2</Application>
  <AppVersion>15.0000</AppVersion>
  <Words>915</Words>
  <Paragraphs>83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2026-02-12T11:56:14Z</dcterms:created>
  <dc:creator>Akarsh Bhardwaj</dc:creator>
  <dc:description/>
  <dc:language>en-IN</dc:language>
  <cp:lastModifiedBy/>
  <dcterms:modified xsi:type="dcterms:W3CDTF">2026-02-13T18:01:07Z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11</vt:i4>
  </property>
</Properties>
</file>